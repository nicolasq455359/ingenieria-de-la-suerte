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Diseño de Interfaz: Neutralidad y Funcionalidad</a:t>
            </a:r>
          </a:p>
        </p:txBody>
      </p:sp>
      <p:sp>
        <p:nvSpPr>
          <p:cNvPr id="3" name="Content Placeholder 2"/>
          <p:cNvSpPr>
            <a:spLocks noGrp="1"/>
          </p:cNvSpPr>
          <p:nvPr>
            <p:ph idx="1"/>
          </p:nvPr>
        </p:nvSpPr>
        <p:spPr/>
        <p:txBody>
          <a:bodyPr/>
          <a:lstStyle/>
          <a:p>
            <a:r>
              <a:t>El objetivo de la interfaz gráfica de usuario (GUI) es servir como un marco de control técnico que no compita visualmente con el modelo 3D de la ruleta. Se plantea un diseño independiente, limpio y de baja intrusión visual.</a:t>
            </a:r>
          </a:p>
          <a:p>
            <a:pPr lvl="1"/>
            <a:r>
              <a:t>Enfoque Minimalista: Uso de mucho espacio en blanco (whitespace) para dar respiro al modelo.</a:t>
            </a:r>
          </a:p>
          <a:p>
            <a:pPr lvl="1"/>
            <a:r>
              <a:t>Contraste Funcional: La ruleta (infografía) es el centro de atención; la interfaz es la herramienta de exploración.</a:t>
            </a:r>
          </a:p>
          <a:p>
            <a:pPr lvl="1"/>
            <a:r>
              <a:t>Estructura Modular: División clara de la pantalla (75% para visualización interactiva, 25% para panel de control).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Paleta de Colores (Independiente)</a:t>
            </a:r>
          </a:p>
        </p:txBody>
      </p:sp>
      <p:sp>
        <p:nvSpPr>
          <p:cNvPr id="3" name="Content Placeholder 2"/>
          <p:cNvSpPr>
            <a:spLocks noGrp="1"/>
          </p:cNvSpPr>
          <p:nvPr>
            <p:ph idx="1"/>
          </p:nvPr>
        </p:nvSpPr>
        <p:spPr/>
        <p:txBody>
          <a:bodyPr/>
          <a:lstStyle/>
          <a:p>
            <a:r>
              <a:t>La interfaz utilizará una paleta en escala de grises y tonos neutros para mantener su independencia de los colores vibrantes (madera, bronce, paño) de la infografía central.</a:t>
            </a:r>
          </a:p>
          <a:p>
            <a:pPr lvl="1"/>
            <a:r>
              <a:t>Fondo de la App: #F8F9FA (Blanco Humo - Limpio y espacioso).</a:t>
            </a:r>
          </a:p>
          <a:p>
            <a:pPr lvl="1"/>
            <a:r>
              <a:t>Fondo de Paneles/HUD: #FFFFFF (Blanco puro para las tarjetas de información).</a:t>
            </a:r>
          </a:p>
          <a:p>
            <a:pPr lvl="1"/>
            <a:r>
              <a:t>Textos Principales: #212529 (Gris Carbón - Alta legibilidad sin ser negro puro).</a:t>
            </a:r>
          </a:p>
          <a:p>
            <a:pPr lvl="1"/>
            <a:r>
              <a:t>Textos Secundarios / Bordes: #ADB5BD (Gris Medio - Para líneas divisoras y notas).</a:t>
            </a:r>
          </a:p>
          <a:p>
            <a:pPr lvl="1"/>
            <a:r>
              <a:t>Color de Acento (Interacción): #0D6EFD (Azul Técnico - Solo para indicar qué botón está activo o hacer hover).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Sistema Tipográfico</a:t>
            </a:r>
          </a:p>
        </p:txBody>
      </p:sp>
      <p:sp>
        <p:nvSpPr>
          <p:cNvPr id="3" name="Content Placeholder 2"/>
          <p:cNvSpPr>
            <a:spLocks noGrp="1"/>
          </p:cNvSpPr>
          <p:nvPr>
            <p:ph idx="1"/>
          </p:nvPr>
        </p:nvSpPr>
        <p:spPr/>
        <p:txBody>
          <a:bodyPr/>
          <a:lstStyle/>
          <a:p>
            <a:r>
              <a:t>Selección de tipografías modernas y sin serifas (Sans-Serif) para garantizar la legibilidad en pantalla y aportar un carácter técnico y profesional al HUD.</a:t>
            </a:r>
          </a:p>
          <a:p>
            <a:pPr lvl="1"/>
            <a:r>
              <a:t>Titulares y Botones: Inter o Helvetica Neue.</a:t>
            </a:r>
          </a:p>
          <a:p>
            <a:pPr lvl="2"/>
            <a:r>
              <a:t>Uso: Títulos de paneles y etiquetas. Por qué: Transmite precisión.</a:t>
            </a:r>
          </a:p>
          <a:p>
            <a:pPr lvl="1"/>
            <a:r>
              <a:t>Cuerpo de Texto y Datos (Guion): Roboto o SF Pro Text.</a:t>
            </a:r>
          </a:p>
          <a:p>
            <a:pPr lvl="2"/>
            <a:r>
              <a:t>Uso: Párrafos explicativos y notas técnicas. Por qué: Optimizada para lectura digital.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HUD y Comportamiento de Controles</a:t>
            </a:r>
          </a:p>
        </p:txBody>
      </p:sp>
      <p:sp>
        <p:nvSpPr>
          <p:cNvPr id="3" name="Content Placeholder 2"/>
          <p:cNvSpPr>
            <a:spLocks noGrp="1"/>
          </p:cNvSpPr>
          <p:nvPr>
            <p:ph idx="1"/>
          </p:nvPr>
        </p:nvSpPr>
        <p:spPr/>
        <p:txBody>
          <a:bodyPr/>
          <a:lstStyle/>
          <a:p>
            <a:r>
              <a:t>El HUD (Head-Up Display) se agrupa en una barra lateral derecha (Sidebar) fija, permitiendo que el usuario cambie la visualización sin perder de vista la ruleta.</a:t>
            </a:r>
          </a:p>
          <a:p>
            <a:pPr lvl="1"/>
            <a:r>
              <a:t>Botones Outline (Baja fidelidad visual): Botones con fondo transparente y borde fino. Solo se rellenan de color cuando están activos.</a:t>
            </a:r>
          </a:p>
          <a:p>
            <a:pPr lvl="1"/>
            <a:r>
              <a:t>Iconografía Funcional: Cada botón va acompañado de un ícono universal (ojo, capas, lupa) para un reconocimiento rápido.</a:t>
            </a:r>
          </a:p>
          <a:p>
            <a:pPr lvl="1"/>
            <a:r>
              <a:t>Contenido Dinámico: El panel inferior se actualiza en tiempo real dependiendo del botón de vista seleccionado.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Pantallas (Wireframes de Baja Fidelidad)</a:t>
            </a:r>
          </a:p>
        </p:txBody>
      </p:sp>
      <p:sp>
        <p:nvSpPr>
          <p:cNvPr id="3" name="Content Placeholder 2"/>
          <p:cNvSpPr>
            <a:spLocks noGrp="1"/>
          </p:cNvSpPr>
          <p:nvPr>
            <p:ph idx="1"/>
          </p:nvPr>
        </p:nvSpPr>
        <p:spPr/>
        <p:txBody>
          <a:bodyPr/>
          <a:lstStyle/>
          <a:p>
            <a:r>
              <a:t>[ESPACIO RESERVADO PARA PANTALLAS DE FIGMA MAKE]</a:t>
            </a:r>
          </a:p>
          <a:p>
            <a:pPr lvl="1"/>
            <a:r>
              <a:t>Wireframe 1: Vista General (Estado Base)</a:t>
            </a:r>
          </a:p>
          <a:p>
            <a:pPr lvl="1"/>
            <a:r>
              <a:t>Wireframe 2: Vista de Corte Transversal y Notas Activas</a:t>
            </a:r>
          </a:p>
          <a:p>
            <a:pPr lvl="1"/>
            <a:r>
              <a:t>Wireframe 3: Vista de Despiece y Transparencias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